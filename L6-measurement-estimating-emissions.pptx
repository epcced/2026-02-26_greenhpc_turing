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564"/>
  </p:normalViewPr>
  <p:slideViewPr>
    <p:cSldViewPr snapToGrid="0">
      <p:cViewPr varScale="1">
        <p:scale>
          <a:sx n="113" d="100"/>
          <a:sy n="113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Turner" userId="9b60647a-c825-4266-aafa-670849c64782" providerId="ADAL" clId="{292526B5-234E-5EAA-AFB8-0412B8CA4453}"/>
    <pc:docChg chg="undo custSel addSld modSld modMainMaster">
      <pc:chgData name="Andrew Turner" userId="9b60647a-c825-4266-aafa-670849c64782" providerId="ADAL" clId="{292526B5-234E-5EAA-AFB8-0412B8CA4453}" dt="2026-02-25T21:19:50.784" v="201" actId="20577"/>
      <pc:docMkLst>
        <pc:docMk/>
      </pc:docMkLst>
      <pc:sldChg chg="modSp mod">
        <pc:chgData name="Andrew Turner" userId="9b60647a-c825-4266-aafa-670849c64782" providerId="ADAL" clId="{292526B5-234E-5EAA-AFB8-0412B8CA4453}" dt="2026-02-04T08:31:46.963" v="141" actId="20577"/>
        <pc:sldMkLst>
          <pc:docMk/>
          <pc:sldMk cId="3185171378" sldId="264"/>
        </pc:sldMkLst>
        <pc:spChg chg="mod">
          <ac:chgData name="Andrew Turner" userId="9b60647a-c825-4266-aafa-670849c64782" providerId="ADAL" clId="{292526B5-234E-5EAA-AFB8-0412B8CA4453}" dt="2026-02-04T08:31:46.963" v="141" actId="20577"/>
          <ac:spMkLst>
            <pc:docMk/>
            <pc:sldMk cId="3185171378" sldId="264"/>
            <ac:spMk id="7" creationId="{10FED7BA-1C0C-EEB1-5BF7-DB2ACBD78B32}"/>
          </ac:spMkLst>
        </pc:spChg>
      </pc:sldChg>
      <pc:sldChg chg="modSp mod">
        <pc:chgData name="Andrew Turner" userId="9b60647a-c825-4266-aafa-670849c64782" providerId="ADAL" clId="{292526B5-234E-5EAA-AFB8-0412B8CA4453}" dt="2026-02-04T08:32:09.034" v="144" actId="20577"/>
        <pc:sldMkLst>
          <pc:docMk/>
          <pc:sldMk cId="902401598" sldId="268"/>
        </pc:sldMkLst>
        <pc:spChg chg="mod">
          <ac:chgData name="Andrew Turner" userId="9b60647a-c825-4266-aafa-670849c64782" providerId="ADAL" clId="{292526B5-234E-5EAA-AFB8-0412B8CA4453}" dt="2026-02-04T08:32:09.034" v="144" actId="20577"/>
          <ac:spMkLst>
            <pc:docMk/>
            <pc:sldMk cId="902401598" sldId="268"/>
            <ac:spMk id="6" creationId="{D5F98E8B-0250-154E-2730-03B5B7A8C888}"/>
          </ac:spMkLst>
        </pc:spChg>
        <pc:graphicFrameChg chg="modGraphic">
          <ac:chgData name="Andrew Turner" userId="9b60647a-c825-4266-aafa-670849c64782" providerId="ADAL" clId="{292526B5-234E-5EAA-AFB8-0412B8CA4453}" dt="2026-02-03T08:30:40.605" v="74" actId="20577"/>
          <ac:graphicFrameMkLst>
            <pc:docMk/>
            <pc:sldMk cId="902401598" sldId="268"/>
            <ac:graphicFrameMk id="4" creationId="{CBE08B62-29EE-4B93-159D-D6A8629EE225}"/>
          </ac:graphicFrameMkLst>
        </pc:graphicFrameChg>
      </pc:sldChg>
      <pc:sldChg chg="modSp mod">
        <pc:chgData name="Andrew Turner" userId="9b60647a-c825-4266-aafa-670849c64782" providerId="ADAL" clId="{292526B5-234E-5EAA-AFB8-0412B8CA4453}" dt="2026-02-03T08:32:09.146" v="112"/>
        <pc:sldMkLst>
          <pc:docMk/>
          <pc:sldMk cId="4106480083" sldId="270"/>
        </pc:sldMkLst>
        <pc:spChg chg="mod">
          <ac:chgData name="Andrew Turner" userId="9b60647a-c825-4266-aafa-670849c64782" providerId="ADAL" clId="{292526B5-234E-5EAA-AFB8-0412B8CA4453}" dt="2026-02-03T08:32:09.146" v="112"/>
          <ac:spMkLst>
            <pc:docMk/>
            <pc:sldMk cId="4106480083" sldId="270"/>
            <ac:spMk id="3" creationId="{43422955-30DA-F4B3-1F1C-396033D9FFC8}"/>
          </ac:spMkLst>
        </pc:spChg>
      </pc:sldChg>
      <pc:sldChg chg="modSp mod">
        <pc:chgData name="Andrew Turner" userId="9b60647a-c825-4266-aafa-670849c64782" providerId="ADAL" clId="{292526B5-234E-5EAA-AFB8-0412B8CA4453}" dt="2026-02-25T21:17:09.232" v="174" actId="20577"/>
        <pc:sldMkLst>
          <pc:docMk/>
          <pc:sldMk cId="1218615231" sldId="271"/>
        </pc:sldMkLst>
        <pc:spChg chg="mod">
          <ac:chgData name="Andrew Turner" userId="9b60647a-c825-4266-aafa-670849c64782" providerId="ADAL" clId="{292526B5-234E-5EAA-AFB8-0412B8CA4453}" dt="2026-02-25T21:17:09.232" v="174" actId="20577"/>
          <ac:spMkLst>
            <pc:docMk/>
            <pc:sldMk cId="1218615231" sldId="271"/>
            <ac:spMk id="3" creationId="{51A798C5-9C58-8ECF-652E-7D2819B67B74}"/>
          </ac:spMkLst>
        </pc:spChg>
      </pc:sldChg>
      <pc:sldChg chg="modSp mod">
        <pc:chgData name="Andrew Turner" userId="9b60647a-c825-4266-aafa-670849c64782" providerId="ADAL" clId="{292526B5-234E-5EAA-AFB8-0412B8CA4453}" dt="2026-02-25T21:19:50.784" v="201" actId="20577"/>
        <pc:sldMkLst>
          <pc:docMk/>
          <pc:sldMk cId="743094448" sldId="272"/>
        </pc:sldMkLst>
        <pc:spChg chg="mod">
          <ac:chgData name="Andrew Turner" userId="9b60647a-c825-4266-aafa-670849c64782" providerId="ADAL" clId="{292526B5-234E-5EAA-AFB8-0412B8CA4453}" dt="2026-02-25T21:19:50.784" v="201" actId="20577"/>
          <ac:spMkLst>
            <pc:docMk/>
            <pc:sldMk cId="743094448" sldId="272"/>
            <ac:spMk id="3" creationId="{3FCF60D3-05D8-1F79-98AE-AF9AE16FCF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94E4-9C7E-F3E9-293B-54E2F1295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31144-0ADD-C03F-C3BC-1D8319D9B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D601-6025-9BFC-990B-3B0880E9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F04A5-BC1F-CF9A-1A75-84727883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F67AC-DE33-C309-5C36-E4E8B33C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47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C6B8-1398-3805-A655-C3986AD42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1AB9C-D58E-38CF-F30E-E8CCC3E09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9E794-1B6E-6985-FD8C-2ADEE5EF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43BC7-2187-5AA7-4C24-C3885164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9F0E-25F0-3C3C-1943-AA3FCF8C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65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DA60-8E9D-353D-538F-F301218E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DAF51-F270-9D76-8090-5261A9943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C2932-49D6-D549-7A4B-823F991B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1ABAA-06B6-AB02-42A9-420F4E9A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A69BA-9BDE-6046-5FBB-2F47A572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67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E2C6-AFE9-3123-7884-5B9FFAFC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135F-C4DB-F62D-8EEA-9C6334287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461AE-25FF-9379-3B3F-D168DDF76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3886-815E-A048-84B2-54C020EA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96EE-6B3E-AFDC-F06F-62B792B6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31EAB-75D0-9818-6973-FC46E536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3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EE4F-E83D-E545-64B9-F39F40CE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10F0F-375E-65AA-FF57-0CFF9BA27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5C245-26DA-83F2-E26B-19BB31CCE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04ED9-1D74-D07D-678D-EF09987F5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DD165-8AF3-FE99-47E8-4ABE0896E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A042D-52EC-B698-4C9D-87DCC4C7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C6656-EDD3-920F-3506-9098E3F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50A5A-1510-364D-E3F5-BA57FD45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11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AA2F-4986-7033-5660-7BA98ADD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ADF38-998B-A0B0-2A32-4A54608A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CF532-0CC5-242D-87D9-177B4FAB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7EDF6-A02B-2CBD-519B-00055AC7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29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02C0-8C7A-697A-0728-78C161BA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8E326-C7AE-B3C3-1155-F105E731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01601-3F22-8D59-AC8E-8BBF99C1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8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4C7E-836F-5D61-AC4A-EF1F1E8F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00B6-EE03-C50D-F118-57DB0A469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41CE-3770-CA7B-593F-E7BED11B9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5B3F1-7560-8AE1-68F9-055F2CA7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0781C-E7F7-44DB-2C02-0FEA4058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B0309-36E5-4AD4-9E68-1F9EA0CF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52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D930-0673-557D-79E3-80E469C9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5FC493-7762-661F-ACA4-7EE6920E7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16D3F-5651-1D57-39C9-2E19AF60D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858C6-F3F2-7284-F978-E8A764A1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9196D-5D31-63D6-53B5-DE75AF4A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D7E6D-6670-5AB9-A5DE-09B497CA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22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E785-223A-2710-1AD1-2BD8E879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0E280-136A-8D17-48D6-A5F7BE404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DC62-9267-0242-E3DF-2A9ACC7E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75937-0D48-A5FF-AB5E-4CDC31F2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7A246-855B-1110-CCD8-77DFB058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77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399644-1AEF-82A8-8DDF-1F906080D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D0333-DC1E-E3F5-75CF-BC50EB8A9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D1DB9-AA78-05F2-CC25-F8D5D2A8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35B5-C434-E48E-4A6F-3549FA11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9B5D3-D7E7-BB74-FBBB-376491EC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51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8726F-38EE-E9D1-A920-E5D1F0B3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985CE-B094-1DE9-4456-39AF4F87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F2FB1-BA14-0A72-BA48-9D08C6D0C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2E4A2-3C3F-A643-83E3-9EB9504CC3D1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3A589-32A4-6C14-5803-8EB8C235B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DA13C-8434-BA1A-DAE6-741A00CB6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DA31C-FBA2-5F49-8571-5E44F971A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27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hgprotocol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arbonintensity.org.uk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7.10793" TargetMode="External"/><Relationship Id="rId2" Type="http://schemas.openxmlformats.org/officeDocument/2006/relationships/hyperlink" Target="https://doi.org/10.5281/zenodo.769245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ECF7-EDA3-F441-4EC8-E04C6EF91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Measurement 1:</a:t>
            </a:r>
            <a:br>
              <a:rPr lang="en-GB" dirty="0"/>
            </a:br>
            <a:r>
              <a:rPr lang="en-GB" dirty="0"/>
              <a:t>Estimating Emissions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DEAB-1E47-6F55-F4CF-FF94A173D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Green software use on HPC</a:t>
            </a:r>
          </a:p>
        </p:txBody>
      </p:sp>
    </p:spTree>
    <p:extLst>
      <p:ext uri="{BB962C8B-B14F-4D97-AF65-F5344CB8AC3E}">
        <p14:creationId xmlns:p14="http://schemas.microsoft.com/office/powerpoint/2010/main" val="236155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FB5B-D5BA-36A2-45D3-E357CB26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7EB4-5371-51F5-4937-1CB72C00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are emissions measured and classified under the GHG protocol?</a:t>
            </a:r>
          </a:p>
          <a:p>
            <a:r>
              <a:rPr lang="en-GB" dirty="0"/>
              <a:t>How do I use the GHG protocol to estimate emissions from my use of HPC?</a:t>
            </a:r>
          </a:p>
        </p:txBody>
      </p:sp>
    </p:spTree>
    <p:extLst>
      <p:ext uri="{BB962C8B-B14F-4D97-AF65-F5344CB8AC3E}">
        <p14:creationId xmlns:p14="http://schemas.microsoft.com/office/powerpoint/2010/main" val="336720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5BED-1BA6-D209-DA28-11006069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CC621-8E65-CDC3-46BF-1624F5A47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how emissions are classified in the widely-used GHG protocol.</a:t>
            </a:r>
          </a:p>
          <a:p>
            <a:r>
              <a:rPr lang="en-GB" dirty="0"/>
              <a:t>Know which GHG protocol classifications are relevant to use of HPC systems.</a:t>
            </a:r>
          </a:p>
          <a:p>
            <a:r>
              <a:rPr lang="en-GB" dirty="0"/>
              <a:t>Learn a methodology to use GHG protocol to estimate the emissions associated with our use of HPC systems.</a:t>
            </a:r>
          </a:p>
          <a:p>
            <a:r>
              <a:rPr lang="en-GB" dirty="0"/>
              <a:t>Understand how emission rates from HPC can be calculated.</a:t>
            </a:r>
          </a:p>
        </p:txBody>
      </p:sp>
    </p:spTree>
    <p:extLst>
      <p:ext uri="{BB962C8B-B14F-4D97-AF65-F5344CB8AC3E}">
        <p14:creationId xmlns:p14="http://schemas.microsoft.com/office/powerpoint/2010/main" val="135535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22B7-7E1F-0933-2FDC-163E1907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Greenhouse Gas (GHG)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88635-04A2-EEB9-26D1-D4784350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95"/>
            <a:ext cx="10515600" cy="461256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 </a:t>
            </a:r>
            <a:r>
              <a:rPr lang="en-GB" dirty="0">
                <a:hlinkClick r:id="rId2"/>
              </a:rPr>
              <a:t>Greenhouse Gas protocol</a:t>
            </a:r>
            <a:r>
              <a:rPr lang="en-GB" dirty="0"/>
              <a:t> is the most widely used and internationally recognised greenhouse gas accounting standard</a:t>
            </a:r>
          </a:p>
          <a:p>
            <a:pPr lvl="1"/>
            <a:r>
              <a:rPr lang="en-GB" dirty="0"/>
              <a:t>Using the GHG protocol allows us to compare our emissions from use of HPC systems to other sources of emissions in a quantitative way</a:t>
            </a:r>
          </a:p>
          <a:p>
            <a:r>
              <a:rPr lang="en-GB" b="1" dirty="0"/>
              <a:t>Scope 1</a:t>
            </a:r>
            <a:r>
              <a:rPr lang="en-GB" dirty="0"/>
              <a:t>: Direct emissions from </a:t>
            </a:r>
            <a:r>
              <a:rPr lang="en-GB" b="1" dirty="0"/>
              <a:t>operations</a:t>
            </a:r>
            <a:r>
              <a:rPr lang="en-GB" dirty="0"/>
              <a:t> owned or controlled by the reporting organisation, such as on-site fuel combustion or fleet vehicles.</a:t>
            </a:r>
          </a:p>
          <a:p>
            <a:r>
              <a:rPr lang="en-GB" b="1" dirty="0"/>
              <a:t>Scope 2</a:t>
            </a:r>
            <a:r>
              <a:rPr lang="en-GB" dirty="0"/>
              <a:t>: Indirect emissions related to </a:t>
            </a:r>
            <a:r>
              <a:rPr lang="en-GB" b="1" dirty="0"/>
              <a:t>emission generation of purchased energy</a:t>
            </a:r>
            <a:r>
              <a:rPr lang="en-GB" dirty="0"/>
              <a:t>, such as heat and electricity.</a:t>
            </a:r>
          </a:p>
          <a:p>
            <a:r>
              <a:rPr lang="en-GB" b="1" dirty="0"/>
              <a:t>Scope 3</a:t>
            </a:r>
            <a:r>
              <a:rPr lang="en-GB" dirty="0"/>
              <a:t>: Other indirect emissions from all the other activities you are engaged in. Scope 3 emissions are typically split into two further categories: </a:t>
            </a:r>
            <a:r>
              <a:rPr lang="en-GB" i="1" dirty="0"/>
              <a:t>upstream emissions</a:t>
            </a:r>
            <a:r>
              <a:rPr lang="en-GB" dirty="0"/>
              <a:t> and </a:t>
            </a:r>
            <a:r>
              <a:rPr lang="en-GB" i="1" dirty="0"/>
              <a:t>downstream emissions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Upstream scope 3 emissions</a:t>
            </a:r>
            <a:r>
              <a:rPr lang="en-GB" dirty="0"/>
              <a:t>: Includes all emissions from an organisation’s supply chain, e.g. emissions from manufacturing and shipping a product</a:t>
            </a:r>
          </a:p>
          <a:p>
            <a:pPr lvl="1"/>
            <a:r>
              <a:rPr lang="en-GB" b="1" dirty="0"/>
              <a:t>Downstream scope 3 emissions</a:t>
            </a:r>
            <a:r>
              <a:rPr lang="en-GB" dirty="0"/>
              <a:t>: Emissions resulting from the use of a product, e.g. the electricity customers may consume when using your product or waste output from the product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699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4C56-63C5-F692-6D7C-EE856DD9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Exercise: What scope for HPC emissions?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20E2E-800E-BE00-0723-C131958D2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Throughout this lesson, we have spoken about emissions from two different sources associated with our use of HPC: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Emissions from the electricity used to run our models/simulations on HPC systems</a:t>
            </a:r>
          </a:p>
          <a:p>
            <a:r>
              <a:rPr lang="en-GB" dirty="0"/>
              <a:t>Embodied emissions from the HPC system hardware.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Given the definitions of scope 1-3 emissions given above, which scope(s) do you think these two different sources of HPC system use emissions fall into?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67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F897-4727-B535-9363-F47A09CE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3817-13C9-FF4F-97CF-C0BC7CF3B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Emissions from the electricity used would be classified as scope 2 emissions.</a:t>
            </a:r>
          </a:p>
          <a:p>
            <a:r>
              <a:rPr lang="en-GB" dirty="0"/>
              <a:t>Embodied emissions from HPC system hardware would be classified as upstream scope 3 emissions.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10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5D4BA-7B6C-42BD-946A-B5AA4CB56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estimate HPC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943D-C401-26D8-5E4E-4B48808C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6840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Step by step process for estimating emissions: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Gather energy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Determine local carbon intensity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Calculate embodied emissions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HPC use emissions (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HPC-E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004D3-8240-9486-DD53-5E77593D6345}"/>
              </a:ext>
            </a:extLst>
          </p:cNvPr>
          <p:cNvSpPr txBox="1"/>
          <p:nvPr/>
        </p:nvSpPr>
        <p:spPr>
          <a:xfrm>
            <a:off x="4154736" y="4627085"/>
            <a:ext cx="3882528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HPC</a:t>
            </a:r>
            <a:r>
              <a:rPr lang="en-GB" sz="2400" b="0" i="1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b="0" i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GB" sz="2400" b="0" i="1" dirty="0">
              <a:solidFill>
                <a:srgbClr val="38383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138A4-5D9F-42AD-3DB9-C4C2D52CE3A4}"/>
              </a:ext>
            </a:extLst>
          </p:cNvPr>
          <p:cNvSpPr txBox="1"/>
          <p:nvPr/>
        </p:nvSpPr>
        <p:spPr>
          <a:xfrm>
            <a:off x="4342667" y="5199961"/>
            <a:ext cx="3700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dirty="0"/>
              <a:t> – Energy use</a:t>
            </a:r>
          </a:p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en-GB" sz="2400" dirty="0"/>
              <a:t>– Local carbon intensity</a:t>
            </a:r>
          </a:p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400" dirty="0"/>
              <a:t> – Embodied emissions</a:t>
            </a:r>
          </a:p>
        </p:txBody>
      </p:sp>
    </p:spTree>
    <p:extLst>
      <p:ext uri="{BB962C8B-B14F-4D97-AF65-F5344CB8AC3E}">
        <p14:creationId xmlns:p14="http://schemas.microsoft.com/office/powerpoint/2010/main" val="2131788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495D-6210-A5F7-9ADC-365B7700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Gather energy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9726-0403-1262-ADBE-643CD0C33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get energy use by estimating it from total power draws or, sometimes, you can get it directly from the scheduler itself</a:t>
            </a:r>
          </a:p>
          <a:p>
            <a:r>
              <a:rPr lang="en-GB" dirty="0"/>
              <a:t>We will look at two approaches for estimating energy use: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Use the total power draw of the system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Use the per-component power draw</a:t>
            </a:r>
          </a:p>
          <a:p>
            <a:r>
              <a:rPr lang="en-GB" dirty="0"/>
              <a:t>If you can get this directly from measurements, this may be easier</a:t>
            </a:r>
          </a:p>
          <a:p>
            <a:pPr lvl="1"/>
            <a:r>
              <a:rPr lang="en-GB" dirty="0"/>
              <a:t>e.g. The </a:t>
            </a:r>
            <a:r>
              <a:rPr lang="en-GB" dirty="0" err="1"/>
              <a:t>Slurm</a:t>
            </a:r>
            <a:r>
              <a:rPr lang="en-GB" dirty="0"/>
              <a:t> scheduler may report energy use</a:t>
            </a:r>
          </a:p>
          <a:p>
            <a:pPr lvl="1"/>
            <a:r>
              <a:rPr lang="en-GB" dirty="0"/>
              <a:t>You may still need to estimate energy use from other components and overheads</a:t>
            </a:r>
          </a:p>
        </p:txBody>
      </p:sp>
    </p:spTree>
    <p:extLst>
      <p:ext uri="{BB962C8B-B14F-4D97-AF65-F5344CB8AC3E}">
        <p14:creationId xmlns:p14="http://schemas.microsoft.com/office/powerpoint/2010/main" val="136282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89A-9883-59B0-EED6-73F12B59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 energy use: from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3B078-D092-CDB7-6EC8-BE4BCB9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One of the simplest ways to estimate your energy use is to use the total power draw of the HPC system and divide it by the number of components</a:t>
            </a:r>
          </a:p>
          <a:p>
            <a:pPr lvl="1"/>
            <a:r>
              <a:rPr lang="en-GB" dirty="0"/>
              <a:t>Gives a per component power draw that can be used to estimate energy use</a:t>
            </a:r>
          </a:p>
          <a:p>
            <a:r>
              <a:rPr lang="en-GB" dirty="0"/>
              <a:t>Example: total power draw of 250 kW and 512 GPU cards</a:t>
            </a:r>
          </a:p>
          <a:p>
            <a:pPr lvl="1"/>
            <a:r>
              <a:rPr lang="en-GB" dirty="0"/>
              <a:t>Mean power draw per GPU = 250 / 512 = 0.488 kW/GPU</a:t>
            </a:r>
          </a:p>
          <a:p>
            <a:pPr lvl="1"/>
            <a:r>
              <a:rPr lang="en-GB" dirty="0"/>
              <a:t>Energy use of 2 GPU for 12 hours = 2 × 12 × 0.488 = 11.7 kWh</a:t>
            </a:r>
          </a:p>
          <a:p>
            <a:r>
              <a:rPr lang="en-GB" dirty="0"/>
              <a:t>You should use the component your resource is allocated in to do the calculation</a:t>
            </a:r>
          </a:p>
          <a:p>
            <a:r>
              <a:rPr lang="en-GB" dirty="0"/>
              <a:t>The total power draw can include other components (e.g. storage) and overheads from plant</a:t>
            </a:r>
          </a:p>
        </p:txBody>
      </p:sp>
    </p:spTree>
    <p:extLst>
      <p:ext uri="{BB962C8B-B14F-4D97-AF65-F5344CB8AC3E}">
        <p14:creationId xmlns:p14="http://schemas.microsoft.com/office/powerpoint/2010/main" val="205555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0732-D840-4763-3584-795B9AC4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 energy use: per component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AAE230-743B-8165-45E1-49FFE84E6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47119"/>
              </p:ext>
            </p:extLst>
          </p:nvPr>
        </p:nvGraphicFramePr>
        <p:xfrm>
          <a:off x="915318" y="2111679"/>
          <a:ext cx="9730878" cy="252994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58058">
                  <a:extLst>
                    <a:ext uri="{9D8B030D-6E8A-4147-A177-3AD203B41FA5}">
                      <a16:colId xmlns:a16="http://schemas.microsoft.com/office/drawing/2014/main" val="4260012708"/>
                    </a:ext>
                  </a:extLst>
                </a:gridCol>
                <a:gridCol w="1333041">
                  <a:extLst>
                    <a:ext uri="{9D8B030D-6E8A-4147-A177-3AD203B41FA5}">
                      <a16:colId xmlns:a16="http://schemas.microsoft.com/office/drawing/2014/main" val="2088368944"/>
                    </a:ext>
                  </a:extLst>
                </a:gridCol>
                <a:gridCol w="1410159">
                  <a:extLst>
                    <a:ext uri="{9D8B030D-6E8A-4147-A177-3AD203B41FA5}">
                      <a16:colId xmlns:a16="http://schemas.microsoft.com/office/drawing/2014/main" val="2401082604"/>
                    </a:ext>
                  </a:extLst>
                </a:gridCol>
                <a:gridCol w="1410159">
                  <a:extLst>
                    <a:ext uri="{9D8B030D-6E8A-4147-A177-3AD203B41FA5}">
                      <a16:colId xmlns:a16="http://schemas.microsoft.com/office/drawing/2014/main" val="2138873490"/>
                    </a:ext>
                  </a:extLst>
                </a:gridCol>
                <a:gridCol w="727113">
                  <a:extLst>
                    <a:ext uri="{9D8B030D-6E8A-4147-A177-3AD203B41FA5}">
                      <a16:colId xmlns:a16="http://schemas.microsoft.com/office/drawing/2014/main" val="2102487255"/>
                    </a:ext>
                  </a:extLst>
                </a:gridCol>
                <a:gridCol w="3492348">
                  <a:extLst>
                    <a:ext uri="{9D8B030D-6E8A-4147-A177-3AD203B41FA5}">
                      <a16:colId xmlns:a16="http://schemas.microsoft.com/office/drawing/2014/main" val="333763144"/>
                    </a:ext>
                  </a:extLst>
                </a:gridCol>
              </a:tblGrid>
              <a:tr h="414445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Loaded power draw per unit (kW)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Loaded power draw (kW)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% Total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1924199499"/>
                  </a:ext>
                </a:extLst>
              </a:tr>
              <a:tr h="398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</a:rPr>
                        <a:t>Compute nodes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5,860 nodes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0.41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2,400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85%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Measured by on system counters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93229055"/>
                  </a:ext>
                </a:extLst>
              </a:tr>
              <a:tr h="398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Interconnect switches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</a:rPr>
                        <a:t>768 switches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0.24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9%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</a:rPr>
                        <a:t>Measured by on system counters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2059926205"/>
                  </a:ext>
                </a:extLst>
              </a:tr>
              <a:tr h="306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Lustre storage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5 file systems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1%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Estimate from vendor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873932354"/>
                  </a:ext>
                </a:extLst>
              </a:tr>
              <a:tr h="306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NFS storage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4 file systems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1%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Estimate from vendor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4143493061"/>
                  </a:ext>
                </a:extLst>
              </a:tr>
              <a:tr h="41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Coolant distribution units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6 CDU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96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Estimate from vendor</a:t>
                      </a: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3344226741"/>
                  </a:ext>
                </a:extLst>
              </a:tr>
              <a:tr h="199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2,808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</a:rPr>
                        <a:t>99%</a:t>
                      </a:r>
                    </a:p>
                  </a:txBody>
                  <a:tcPr marL="59607" marR="59607" marT="29804" marB="29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16004105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D38E06F-B6B4-BFC0-8F61-D6E4A21C3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7811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BAA9E-F36E-E46C-FE1A-E6324A79D34D}"/>
              </a:ext>
            </a:extLst>
          </p:cNvPr>
          <p:cNvSpPr txBox="1"/>
          <p:nvPr/>
        </p:nvSpPr>
        <p:spPr>
          <a:xfrm>
            <a:off x="915318" y="1603327"/>
            <a:ext cx="973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 for ARCHER2, data from measurement and estimates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ED7BA-1C0C-EEB1-5BF7-DB2ACBD78B32}"/>
              </a:ext>
            </a:extLst>
          </p:cNvPr>
          <p:cNvSpPr txBox="1"/>
          <p:nvPr/>
        </p:nvSpPr>
        <p:spPr>
          <a:xfrm>
            <a:off x="838200" y="4732372"/>
            <a:ext cx="9807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can use this data in the same way as we did to get mean per-node power draw, however: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ARCHER2 we have compute node energy use per job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know that compute nodes are around 85% of total power draw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can add an extra 15% of energy use to the measured value to include electricity use from other components</a:t>
            </a:r>
          </a:p>
        </p:txBody>
      </p:sp>
    </p:spTree>
    <p:extLst>
      <p:ext uri="{BB962C8B-B14F-4D97-AF65-F5344CB8AC3E}">
        <p14:creationId xmlns:p14="http://schemas.microsoft.com/office/powerpoint/2010/main" val="318517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332D-1496-9C73-1761-33FB3F6D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 energy use: overheads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2900-4E54-C800-E772-B97E569A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Plant overheads (cooling, transformation) also need to be included</a:t>
            </a:r>
          </a:p>
          <a:p>
            <a:r>
              <a:rPr lang="en-GB" dirty="0"/>
              <a:t>PUE value gives this value: PUE 1.25 means 25% extra energy</a:t>
            </a:r>
          </a:p>
          <a:p>
            <a:r>
              <a:rPr lang="en-GB" dirty="0"/>
              <a:t>PUE varies with time but not many site publish instantaneous values</a:t>
            </a:r>
          </a:p>
          <a:p>
            <a:pPr lvl="1"/>
            <a:r>
              <a:rPr lang="en-GB" dirty="0"/>
              <a:t>Usually end up using mean values</a:t>
            </a:r>
          </a:p>
          <a:p>
            <a:r>
              <a:rPr lang="en-GB" dirty="0"/>
              <a:t>Example: ARCHER2 mean annual PUE is 1.1 so add 10% extra energy</a:t>
            </a:r>
          </a:p>
        </p:txBody>
      </p:sp>
    </p:spTree>
    <p:extLst>
      <p:ext uri="{BB962C8B-B14F-4D97-AF65-F5344CB8AC3E}">
        <p14:creationId xmlns:p14="http://schemas.microsoft.com/office/powerpoint/2010/main" val="115191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83A3-5039-A01C-E3A5-22511716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Determine local carbon intensity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8A3C-4EDD-33A8-24BA-FD45E537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59936"/>
          </a:xfrm>
        </p:spPr>
        <p:txBody>
          <a:bodyPr/>
          <a:lstStyle/>
          <a:p>
            <a:r>
              <a:rPr lang="en-GB" dirty="0"/>
              <a:t>For the UK, you can use:  </a:t>
            </a:r>
            <a:r>
              <a:rPr lang="en-GB" dirty="0">
                <a:hlinkClick r:id="rId2"/>
              </a:rPr>
              <a:t>Carbon Intensity API</a:t>
            </a:r>
            <a:endParaRPr lang="en-GB" dirty="0"/>
          </a:p>
          <a:p>
            <a:pPr lvl="1"/>
            <a:r>
              <a:rPr lang="en-GB" dirty="0"/>
              <a:t>Reports carbon intensity every 30 minutes</a:t>
            </a:r>
          </a:p>
          <a:p>
            <a:r>
              <a:rPr lang="en-GB" dirty="0"/>
              <a:t>In the first instance, fine to use an annual mean value</a:t>
            </a:r>
          </a:p>
          <a:p>
            <a:r>
              <a:rPr lang="en-GB" dirty="0"/>
              <a:t>Some sites may use actual value (this is the approach on ARCHER2)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FFE7B4-7DE1-350A-00AB-91DE3D5D2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791226"/>
              </p:ext>
            </p:extLst>
          </p:nvPr>
        </p:nvGraphicFramePr>
        <p:xfrm>
          <a:off x="838200" y="4285561"/>
          <a:ext cx="10515600" cy="20116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80837">
                  <a:extLst>
                    <a:ext uri="{9D8B030D-6E8A-4147-A177-3AD203B41FA5}">
                      <a16:colId xmlns:a16="http://schemas.microsoft.com/office/drawing/2014/main" val="547999456"/>
                    </a:ext>
                  </a:extLst>
                </a:gridCol>
                <a:gridCol w="5977512">
                  <a:extLst>
                    <a:ext uri="{9D8B030D-6E8A-4147-A177-3AD203B41FA5}">
                      <a16:colId xmlns:a16="http://schemas.microsoft.com/office/drawing/2014/main" val="1630469761"/>
                    </a:ext>
                  </a:extLst>
                </a:gridCol>
                <a:gridCol w="3157251">
                  <a:extLst>
                    <a:ext uri="{9D8B030D-6E8A-4147-A177-3AD203B41FA5}">
                      <a16:colId xmlns:a16="http://schemas.microsoft.com/office/drawing/2014/main" val="3746551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</a:rPr>
                        <a:t>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</a:rPr>
                        <a:t>Carbon Intensity (gCO</a:t>
                      </a:r>
                      <a:r>
                        <a:rPr lang="en-GB" sz="1600" b="1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</a:rPr>
                        <a:t>e/kWh)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4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N. Scotland, S. Scotland, N.E. England, N.W. England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22 - 48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419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Low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</a:rPr>
                        <a:t>N. Wales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63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E. England, London, W. Midlands, S.E. England, Yorkshire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108 - 135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94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High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S. England, E. Midlands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186 - 203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74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</a:rPr>
                        <a:t>S.W. England, S. Wales,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</a:rPr>
                        <a:t>242 - 255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4465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369C6C-DEAD-8F89-6172-16B2563F730A}"/>
              </a:ext>
            </a:extLst>
          </p:cNvPr>
          <p:cNvSpPr txBox="1"/>
          <p:nvPr/>
        </p:nvSpPr>
        <p:spPr>
          <a:xfrm>
            <a:off x="838200" y="6297241"/>
            <a:ext cx="2290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Mean values for 2024</a:t>
            </a:r>
          </a:p>
        </p:txBody>
      </p:sp>
    </p:spTree>
    <p:extLst>
      <p:ext uri="{BB962C8B-B14F-4D97-AF65-F5344CB8AC3E}">
        <p14:creationId xmlns:p14="http://schemas.microsoft.com/office/powerpoint/2010/main" val="487039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6152-E339-DADA-8C3D-C3D8D75E1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Determine embodied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38F9-BE89-85DA-7C33-C0AC7A44A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Can be more difficult – data sources are less certain</a:t>
            </a:r>
          </a:p>
          <a:p>
            <a:r>
              <a:rPr lang="en-GB" dirty="0"/>
              <a:t>If you are lucky, the HPC system may have done this for you!</a:t>
            </a:r>
          </a:p>
          <a:p>
            <a:r>
              <a:rPr lang="en-GB" dirty="0"/>
              <a:t>If you need to do this yourself, the most important components are likely to be:</a:t>
            </a:r>
          </a:p>
          <a:p>
            <a:pPr lvl="1"/>
            <a:r>
              <a:rPr lang="en-GB" dirty="0"/>
              <a:t>Compute nodes</a:t>
            </a:r>
          </a:p>
          <a:p>
            <a:pPr lvl="1"/>
            <a:r>
              <a:rPr lang="en-GB" dirty="0"/>
              <a:t>Interconnect switches</a:t>
            </a:r>
          </a:p>
          <a:p>
            <a:pPr lvl="1"/>
            <a:r>
              <a:rPr lang="en-GB" dirty="0"/>
              <a:t>Storage</a:t>
            </a:r>
          </a:p>
          <a:p>
            <a:r>
              <a:rPr lang="en-GB" dirty="0"/>
              <a:t>Rules of thumb</a:t>
            </a:r>
          </a:p>
          <a:p>
            <a:pPr lvl="1"/>
            <a:r>
              <a:rPr lang="en-GB" dirty="0"/>
              <a:t>The more complex the component, the higher the embodied emissions</a:t>
            </a:r>
          </a:p>
          <a:p>
            <a:pPr lvl="1"/>
            <a:r>
              <a:rPr lang="en-GB" dirty="0"/>
              <a:t>The more of something there is, the more important it is to consider</a:t>
            </a:r>
          </a:p>
        </p:txBody>
      </p:sp>
    </p:spTree>
    <p:extLst>
      <p:ext uri="{BB962C8B-B14F-4D97-AF65-F5344CB8AC3E}">
        <p14:creationId xmlns:p14="http://schemas.microsoft.com/office/powerpoint/2010/main" val="56523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F6BE-9F06-B99E-8077-EC9EAA3C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ARCHER2 embodied emissions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E08B62-29EE-4B93-159D-D6A8629EE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411"/>
              </p:ext>
            </p:extLst>
          </p:nvPr>
        </p:nvGraphicFramePr>
        <p:xfrm>
          <a:off x="838200" y="1825626"/>
          <a:ext cx="10515600" cy="230403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04152">
                  <a:extLst>
                    <a:ext uri="{9D8B030D-6E8A-4147-A177-3AD203B41FA5}">
                      <a16:colId xmlns:a16="http://schemas.microsoft.com/office/drawing/2014/main" val="640573477"/>
                    </a:ext>
                  </a:extLst>
                </a:gridCol>
                <a:gridCol w="1564395">
                  <a:extLst>
                    <a:ext uri="{9D8B030D-6E8A-4147-A177-3AD203B41FA5}">
                      <a16:colId xmlns:a16="http://schemas.microsoft.com/office/drawing/2014/main" val="2034876824"/>
                    </a:ext>
                  </a:extLst>
                </a:gridCol>
                <a:gridCol w="1689253">
                  <a:extLst>
                    <a:ext uri="{9D8B030D-6E8A-4147-A177-3AD203B41FA5}">
                      <a16:colId xmlns:a16="http://schemas.microsoft.com/office/drawing/2014/main" val="305081315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994997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151507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85044688"/>
                    </a:ext>
                  </a:extLst>
                </a:gridCol>
              </a:tblGrid>
              <a:tr h="42041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Estimated kgCO</a:t>
                      </a:r>
                      <a:r>
                        <a:rPr lang="en-GB" sz="1400" b="1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e per unit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Estimated kgCO</a:t>
                      </a:r>
                      <a:r>
                        <a:rPr lang="en-GB" sz="1400" b="1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% Total Scope 3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</a:rPr>
                        <a:t>References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1616325185"/>
                  </a:ext>
                </a:extLst>
              </a:tr>
              <a:tr h="294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Compute nodes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5,860 nodes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955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5,600,000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85%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(1)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95095005"/>
                  </a:ext>
                </a:extLst>
              </a:tr>
              <a:tr h="308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Interconnect switches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768 switches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280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216,000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(2)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2753558277"/>
                  </a:ext>
                </a:extLst>
              </a:tr>
              <a:tr h="294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Lustre HDD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19,759,200 GB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400,000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(3)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681399271"/>
                  </a:ext>
                </a:extLst>
              </a:tr>
              <a:tr h="294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Lustre SSD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1,900,800 GB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0.16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300,000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(3)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869302530"/>
                  </a:ext>
                </a:extLst>
              </a:tr>
              <a:tr h="294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NFS HDD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3,240,000 GB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70,000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1%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(3)</a:t>
                      </a: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2254873475"/>
                  </a:ext>
                </a:extLst>
              </a:tr>
              <a:tr h="24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14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14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6,586,000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16142969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6D1C4F6-04D2-CE98-EA45-3C683E430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98E8B-0250-154E-2730-03B5B7A8C888}"/>
              </a:ext>
            </a:extLst>
          </p:cNvPr>
          <p:cNvSpPr txBox="1"/>
          <p:nvPr/>
        </p:nvSpPr>
        <p:spPr>
          <a:xfrm>
            <a:off x="838200" y="4296295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Large uncertainties in embodied </a:t>
            </a:r>
            <a:r>
              <a:rPr lang="en-GB" sz="1600"/>
              <a:t>emissions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Embodied </a:t>
            </a:r>
            <a:r>
              <a:rPr lang="en-GB" sz="1600" dirty="0"/>
              <a:t>emissions from data centre itself not included – thought to be less significant due to building/plant long lifespans</a:t>
            </a:r>
          </a:p>
          <a:p>
            <a:endParaRPr lang="en-GB" sz="1600" dirty="0"/>
          </a:p>
          <a:p>
            <a:r>
              <a:rPr lang="en-GB" sz="1200" dirty="0"/>
              <a:t>References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>
                <a:hlinkClick r:id="rId2"/>
              </a:rPr>
              <a:t>IRISCAST Final Report</a:t>
            </a:r>
            <a:endParaRPr lang="en-GB" sz="1200" dirty="0"/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Estimate taken from IBM z16(TM) multi frame 24-port Ethernet Switch Product Carbon Footprint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>
                <a:hlinkClick r:id="rId3"/>
              </a:rPr>
              <a:t>Tannu and Nair, 2023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02401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F619-9676-A20B-D992-F49A7636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ARCHER2 embodied emissions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22955-30DA-F4B3-1F1C-396033D9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We have the total embodied emissions for ARCHER2, how can we use this to get emissions per job?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Amortisation: divide total emissions by total resource available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ARCHER2 allocates in </a:t>
            </a:r>
            <a:r>
              <a:rPr lang="en-GB" dirty="0" err="1"/>
              <a:t>nodeh</a:t>
            </a:r>
            <a:r>
              <a:rPr lang="en-GB" dirty="0"/>
              <a:t>, total </a:t>
            </a:r>
            <a:r>
              <a:rPr lang="en-GB" dirty="0" err="1"/>
              <a:t>nodeh</a:t>
            </a:r>
            <a:r>
              <a:rPr lang="en-GB" dirty="0"/>
              <a:t> available:</a:t>
            </a:r>
          </a:p>
          <a:p>
            <a:pPr marL="0" indent="0">
              <a:buNone/>
            </a:pPr>
            <a:r>
              <a:rPr lang="en-GB" dirty="0"/>
              <a:t>	6 years </a:t>
            </a:r>
            <a:r>
              <a:rPr lang="en-GB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dirty="0"/>
              <a:t> 365 days </a:t>
            </a:r>
            <a:r>
              <a:rPr lang="en-GB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dirty="0"/>
              <a:t> 24 hours </a:t>
            </a:r>
            <a:r>
              <a:rPr lang="en-GB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dirty="0"/>
              <a:t> 5860 nodes = 308,001,600 </a:t>
            </a:r>
            <a:r>
              <a:rPr lang="en-GB" dirty="0" err="1"/>
              <a:t>nodeh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Embodied emissions kgCO</a:t>
            </a:r>
            <a:r>
              <a:rPr lang="en-GB" baseline="-25000" dirty="0"/>
              <a:t>2</a:t>
            </a:r>
            <a:r>
              <a:rPr lang="en-GB" dirty="0"/>
              <a:t>e/</a:t>
            </a:r>
            <a:r>
              <a:rPr lang="en-GB" dirty="0" err="1"/>
              <a:t>nodeh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	6,586,000 kgCO</a:t>
            </a:r>
            <a:r>
              <a:rPr lang="en-GB" baseline="-25000" dirty="0"/>
              <a:t>2</a:t>
            </a:r>
            <a:r>
              <a:rPr lang="en-GB" dirty="0"/>
              <a:t>e / 308,001,600 </a:t>
            </a:r>
            <a:r>
              <a:rPr lang="en-GB" dirty="0" err="1"/>
              <a:t>nodeh</a:t>
            </a:r>
            <a:r>
              <a:rPr lang="en-GB" dirty="0"/>
              <a:t> = </a:t>
            </a:r>
            <a:r>
              <a:rPr lang="en-GB" b="1" dirty="0"/>
              <a:t>0.021 kgCO</a:t>
            </a:r>
            <a:r>
              <a:rPr lang="en-GB" b="1" baseline="-25000" dirty="0"/>
              <a:t>2</a:t>
            </a:r>
            <a:r>
              <a:rPr lang="en-GB" b="1" dirty="0"/>
              <a:t>e/</a:t>
            </a:r>
            <a:r>
              <a:rPr lang="en-GB" b="1" dirty="0" err="1"/>
              <a:t>nodeh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06480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BF08-C23B-FA1C-5FF9-3A2EA9FC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Compute total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48296-8196-6B87-2D33-00099B09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520" y="2677805"/>
            <a:ext cx="10515600" cy="37049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ARCHER2 job example: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Measure compute node energy use</a:t>
            </a:r>
          </a:p>
          <a:p>
            <a:pPr lvl="1"/>
            <a:r>
              <a:rPr lang="en-GB" dirty="0"/>
              <a:t>Add 15% for other components</a:t>
            </a:r>
          </a:p>
          <a:p>
            <a:pPr lvl="1"/>
            <a:r>
              <a:rPr lang="en-GB" dirty="0"/>
              <a:t>Add 10% for plant overheads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Take CI at start of each job and use this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Use </a:t>
            </a:r>
            <a:r>
              <a:rPr lang="en-GB" dirty="0" err="1"/>
              <a:t>nodeh</a:t>
            </a:r>
            <a:r>
              <a:rPr lang="en-GB" dirty="0"/>
              <a:t> from the job and embodied emissions rate to compute M</a:t>
            </a:r>
          </a:p>
          <a:p>
            <a:r>
              <a:rPr lang="en-GB" dirty="0"/>
              <a:t>Plug all the numbers in and compute the per-job emissions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Sum over all jobs in the set to get total emissions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12D85-7455-C4F5-8120-7702142D4410}"/>
              </a:ext>
            </a:extLst>
          </p:cNvPr>
          <p:cNvSpPr txBox="1"/>
          <p:nvPr/>
        </p:nvSpPr>
        <p:spPr>
          <a:xfrm>
            <a:off x="2634408" y="1855217"/>
            <a:ext cx="3882528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HPC</a:t>
            </a:r>
            <a:r>
              <a:rPr lang="en-GB" sz="2400" b="0" i="1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b="0" i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GB" sz="2400" b="0" i="1" dirty="0">
              <a:solidFill>
                <a:srgbClr val="38383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1AF6F-D690-C0C3-ED5C-FCCEB037924D}"/>
              </a:ext>
            </a:extLst>
          </p:cNvPr>
          <p:cNvSpPr txBox="1"/>
          <p:nvPr/>
        </p:nvSpPr>
        <p:spPr>
          <a:xfrm>
            <a:off x="7879082" y="1667496"/>
            <a:ext cx="2818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dirty="0"/>
              <a:t> – Energy use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en-GB" dirty="0"/>
              <a:t>– Local carbon intensity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dirty="0"/>
              <a:t> – Embodied emissions</a:t>
            </a:r>
          </a:p>
        </p:txBody>
      </p:sp>
    </p:spTree>
    <p:extLst>
      <p:ext uri="{BB962C8B-B14F-4D97-AF65-F5344CB8AC3E}">
        <p14:creationId xmlns:p14="http://schemas.microsoft.com/office/powerpoint/2010/main" val="3664434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753C-7291-3ED9-0951-49CF277A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Exercise: compute HPC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98C5-9C58-8ECF-652E-7D2819B67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You are using (or running) a GPU-based HPC service and a particular project has used the following amounts of resource: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1,100 </a:t>
            </a:r>
            <a:r>
              <a:rPr lang="en-GB" dirty="0" err="1"/>
              <a:t>GPUh</a:t>
            </a:r>
            <a:endParaRPr lang="en-GB" dirty="0"/>
          </a:p>
          <a:p>
            <a:pPr lvl="1"/>
            <a:r>
              <a:rPr lang="en-GB" dirty="0"/>
              <a:t>350,000 kWh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The total embodied emissions for the service are 3,000,000 kgCO</a:t>
            </a:r>
            <a:r>
              <a:rPr lang="en-GB" baseline="-25000" dirty="0"/>
              <a:t>2</a:t>
            </a:r>
            <a:r>
              <a:rPr lang="en-GB" dirty="0"/>
              <a:t>e, the service lifetime is 5 years and there are 1000 compute nodes each with 8 GPUs. The service is hosted in a location with a carbon intensity of 40 gCO</a:t>
            </a:r>
            <a:r>
              <a:rPr lang="en-GB" baseline="-25000" dirty="0"/>
              <a:t>2</a:t>
            </a:r>
            <a:r>
              <a:rPr lang="en-GB" dirty="0"/>
              <a:t>e/kWh.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the scope 2 emissions for the project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the scope 3 emissions rate in kgCO</a:t>
            </a:r>
            <a:r>
              <a:rPr lang="en-GB" baseline="-25000" dirty="0"/>
              <a:t>2</a:t>
            </a:r>
            <a:r>
              <a:rPr lang="en-GB" dirty="0"/>
              <a:t>e/</a:t>
            </a:r>
            <a:r>
              <a:rPr lang="en-GB" dirty="0" err="1"/>
              <a:t>GPUh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the scope 3 emissions for the project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the total emissions for the project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Do scope 2 or scope 3 emissions dominate or are they evenly matched?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615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6196-0F70-5452-C72C-1B010DFA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60D3-05D8-1F79-98AE-AF9AE16FC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>
                <a:cs typeface="Times New Roman" panose="02020603050405020304" pitchFamily="18" charset="0"/>
              </a:rPr>
              <a:t>Operational emissions (Scope 2):</a:t>
            </a:r>
            <a:br>
              <a:rPr lang="en-GB" sz="2000" dirty="0">
                <a:cs typeface="Times New Roman" panose="02020603050405020304" pitchFamily="18" charset="0"/>
              </a:rPr>
            </a:b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E×CI  </a:t>
            </a:r>
            <a:r>
              <a:rPr lang="en-GB" sz="2000" dirty="0"/>
              <a:t>= 350,000 kWh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0.040 kgCO</a:t>
            </a:r>
            <a:r>
              <a:rPr lang="en-GB" sz="2000" baseline="-25000" dirty="0"/>
              <a:t>2</a:t>
            </a:r>
            <a:r>
              <a:rPr lang="en-GB" sz="2000" dirty="0"/>
              <a:t>e/kWh = </a:t>
            </a:r>
            <a:r>
              <a:rPr lang="en-GB" sz="2000" b="1" dirty="0"/>
              <a:t>14,000 kgCO</a:t>
            </a:r>
            <a:r>
              <a:rPr lang="en-GB" sz="2000" b="1" baseline="-25000" dirty="0"/>
              <a:t>2</a:t>
            </a:r>
            <a:r>
              <a:rPr lang="en-GB" sz="2000" b="1" dirty="0"/>
              <a:t>e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Total resource:</a:t>
            </a:r>
            <a:br>
              <a:rPr lang="en-GB" sz="2000" dirty="0"/>
            </a:br>
            <a:r>
              <a:rPr lang="en-GB" sz="2000" dirty="0"/>
              <a:t>5 years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365 days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24 hours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1000 nodes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8 GPU per node = </a:t>
            </a:r>
            <a:r>
              <a:rPr lang="en-GB" sz="2000" b="1" dirty="0"/>
              <a:t>350,400,000 </a:t>
            </a:r>
            <a:r>
              <a:rPr lang="en-GB" sz="2000" b="1" dirty="0" err="1"/>
              <a:t>GPUh</a:t>
            </a:r>
            <a:br>
              <a:rPr lang="en-GB" sz="2000" dirty="0"/>
            </a:br>
            <a:r>
              <a:rPr lang="en-GB" sz="2000" dirty="0"/>
              <a:t>Embodied emissions rate:</a:t>
            </a:r>
            <a:br>
              <a:rPr lang="en-GB" sz="2000" dirty="0"/>
            </a:br>
            <a:r>
              <a:rPr lang="en-GB" sz="2000" dirty="0"/>
              <a:t>6,500,000 kgCO</a:t>
            </a:r>
            <a:r>
              <a:rPr lang="en-GB" sz="2000" baseline="-25000" dirty="0"/>
              <a:t>2</a:t>
            </a:r>
            <a:r>
              <a:rPr lang="en-GB" sz="2000" dirty="0"/>
              <a:t>e / 490,560,000 </a:t>
            </a:r>
            <a:r>
              <a:rPr lang="en-GB" sz="2000" dirty="0" err="1"/>
              <a:t>GPUh</a:t>
            </a:r>
            <a:r>
              <a:rPr lang="en-GB" sz="2000" dirty="0"/>
              <a:t> = </a:t>
            </a:r>
            <a:r>
              <a:rPr lang="en-GB" sz="2000" b="1" dirty="0"/>
              <a:t>0.01855 kgCO</a:t>
            </a:r>
            <a:r>
              <a:rPr lang="en-GB" sz="2000" b="1" baseline="-25000" dirty="0"/>
              <a:t>2</a:t>
            </a:r>
            <a:r>
              <a:rPr lang="en-GB" sz="2000" b="1" dirty="0"/>
              <a:t>e/</a:t>
            </a:r>
            <a:r>
              <a:rPr lang="en-GB" sz="2000" b="1" dirty="0" err="1"/>
              <a:t>GPUh</a:t>
            </a:r>
            <a:endParaRPr lang="en-GB" sz="20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Embodied emissions (Scope 3):</a:t>
            </a:r>
            <a:br>
              <a:rPr lang="en-GB" sz="2000" dirty="0"/>
            </a:b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000" dirty="0"/>
              <a:t> = 1,100 </a:t>
            </a:r>
            <a:r>
              <a:rPr lang="en-GB" sz="2000" dirty="0" err="1"/>
              <a:t>GPUh</a:t>
            </a:r>
            <a:r>
              <a:rPr lang="en-GB" sz="2000" dirty="0"/>
              <a:t>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GB" sz="2000" dirty="0"/>
              <a:t> 0.019 kgCO</a:t>
            </a:r>
            <a:r>
              <a:rPr lang="en-GB" sz="2000" baseline="-25000" dirty="0"/>
              <a:t>2</a:t>
            </a:r>
            <a:r>
              <a:rPr lang="en-GB" sz="2000" dirty="0"/>
              <a:t>e/</a:t>
            </a:r>
            <a:r>
              <a:rPr lang="en-GB" sz="2000" dirty="0" err="1"/>
              <a:t>GPUh</a:t>
            </a:r>
            <a:r>
              <a:rPr lang="en-GB" sz="2000" dirty="0"/>
              <a:t> = </a:t>
            </a:r>
            <a:r>
              <a:rPr lang="en-GB" sz="2000" b="1" dirty="0"/>
              <a:t>20.900 kgCO</a:t>
            </a:r>
            <a:r>
              <a:rPr lang="en-GB" sz="2000" b="1" baseline="-25000" dirty="0"/>
              <a:t>2</a:t>
            </a:r>
            <a:r>
              <a:rPr lang="en-GB" sz="2000" b="1" dirty="0"/>
              <a:t>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Total emissions:</a:t>
            </a:r>
            <a:br>
              <a:rPr lang="en-GB" sz="2000" dirty="0"/>
            </a:b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HPC-E</a:t>
            </a:r>
            <a:r>
              <a:rPr lang="en-GB" sz="2000" dirty="0"/>
              <a:t> = 141,680 + 14.575 = </a:t>
            </a:r>
            <a:r>
              <a:rPr lang="en-GB" sz="2000" b="1" dirty="0"/>
              <a:t>14,021 kgCO</a:t>
            </a:r>
            <a:r>
              <a:rPr lang="en-GB" sz="2000" b="1" baseline="-25000" dirty="0"/>
              <a:t>2</a:t>
            </a:r>
            <a:r>
              <a:rPr lang="en-GB" sz="2000" b="1" dirty="0"/>
              <a:t>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Scope 2 emissions dominate</a:t>
            </a:r>
          </a:p>
          <a:p>
            <a:pPr marL="514350" indent="-514350">
              <a:buFont typeface="+mj-lt"/>
              <a:buAutoNum type="arabicPeriod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4309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1624</Words>
  <Application>Microsoft Macintosh PowerPoint</Application>
  <PresentationFormat>Widescreen</PresentationFormat>
  <Paragraphs>233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Measurement 1: Estimating Emissions</vt:lpstr>
      <vt:lpstr>Questions</vt:lpstr>
      <vt:lpstr>Objectives</vt:lpstr>
      <vt:lpstr>Greenhouse Gas (GHG) Protocol</vt:lpstr>
      <vt:lpstr>Exercise: What scope for HPC emissions?</vt:lpstr>
      <vt:lpstr>Solution</vt:lpstr>
      <vt:lpstr>How to estimate HPC emissions</vt:lpstr>
      <vt:lpstr>1. Gather energy use</vt:lpstr>
      <vt:lpstr>Estimate energy use: from total</vt:lpstr>
      <vt:lpstr>Estimate energy use: per component</vt:lpstr>
      <vt:lpstr>Estimate energy use: overheads</vt:lpstr>
      <vt:lpstr>2. Determine local carbon intensity</vt:lpstr>
      <vt:lpstr>3. Determine embodied emissions</vt:lpstr>
      <vt:lpstr>Example: ARCHER2 embodied emissions</vt:lpstr>
      <vt:lpstr>Example: ARCHER2 embodied emissions rate</vt:lpstr>
      <vt:lpstr>4. Compute total emissions</vt:lpstr>
      <vt:lpstr>Exercise: compute HPC emissions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Turner</dc:creator>
  <cp:lastModifiedBy>Andrew Turner</cp:lastModifiedBy>
  <cp:revision>1</cp:revision>
  <dcterms:created xsi:type="dcterms:W3CDTF">2025-09-24T09:26:54Z</dcterms:created>
  <dcterms:modified xsi:type="dcterms:W3CDTF">2026-02-25T21:19:53Z</dcterms:modified>
</cp:coreProperties>
</file>